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黎明之后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756B"/>
                </a:solidFill>
                <a:latin typeface="Microsoft YaHei"/>
              </a:defRPr>
            </a:pPr>
            <a:r>
              <a:t>（规则怪谈-推理反击）社交派对游戏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2743200" cy="36576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你不知道什么能做、什么不能说——但每次违规，理智都会崩溃。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你必须在12天内推理出鬼的规则、一条条抹除它们，</a:t>
            </a:r>
          </a:p>
          <a:p>
            <a:pPr>
              <a:spcAft>
                <a:spcPts val="600"/>
              </a:spcAft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同时保持自己不饿死、不疯掉、不被身边的人背叛。</a:t>
            </a:r>
          </a:p>
          <a:p>
            <a:pPr>
              <a:spcAft>
                <a:spcPts val="600"/>
              </a:spcAft>
              <a:defRPr sz="2000" b="1">
                <a:solidFill>
                  <a:srgbClr val="D4756B"/>
                </a:solidFill>
                <a:latin typeface="Microsoft YaHei"/>
              </a:defRPr>
            </a:pPr>
            <a:r>
              <a:t>因为鬼就在你们之中。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669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产品报告 V1.0</a:t>
            </a:r>
          </a:p>
          <a:p>
            <a:pPr>
              <a:spcAft>
                <a:spcPts val="600"/>
              </a:spcAft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2026年7月</a:t>
            </a:r>
          </a:p>
          <a:p>
            <a:pPr>
              <a:spcAft>
                <a:spcPts val="600"/>
              </a:spcAft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设计者：小马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游戏概览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Game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游戏名称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《黎明之后》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游戏类型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社交推理 + 规则解谜 + 生存策略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玩家数量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6-12人（推荐8人）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游戏时长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90-150分钟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年龄建议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14+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核心体验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解谜 · 生存 · 社交博弈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主持人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AI市长（豆包等国产大模型）或真人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物理组件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188张卡牌 + 地图 + 角色面板 + 公开规则栏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8288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"狼人杀的推理深度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+ 密室逃脱的解谜快感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+ 生存游戏的资源博弈"</a:t>
            </a:r>
          </a:p>
          <a:p>
            <a:pPr>
              <a:spcAft>
                <a:spcPts val="600"/>
              </a:spcAft>
              <a:defRPr sz="10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D4756B"/>
                </a:solidFill>
                <a:latin typeface="Microsoft YaHei"/>
              </a:defRPr>
            </a:pPr>
            <a:r>
              <a:t>规则不是附属品——</a:t>
            </a:r>
          </a:p>
          <a:p>
            <a:pPr>
              <a:spcAft>
                <a:spcPts val="600"/>
              </a:spcAft>
              <a:defRPr sz="1300" b="1">
                <a:solidFill>
                  <a:srgbClr val="D4756B"/>
                </a:solidFill>
                <a:latin typeface="Microsoft YaHei"/>
              </a:defRPr>
            </a:pPr>
            <a:r>
              <a:t>规则本身就是游戏。</a:t>
            </a:r>
          </a:p>
          <a:p>
            <a:pPr>
              <a:spcAft>
                <a:spcPts val="600"/>
              </a:spcAft>
              <a:defRPr sz="10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AI市长替代真人主持，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零门槛开桌，每局生成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独一无二的恐怖叙事。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Design Philosophy —— 规则为骨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463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B6F9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56B"/>
                </a:solidFill>
                <a:latin typeface="Microsoft YaHei"/>
              </a:defRPr>
            </a:pPr>
            <a:r>
              <a:t>原则一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57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不知道规则 → 推理规则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传统桌游的规则是玩家阅读后遵守的。本游戏的规则是玩家观察后推理的。你不知道边界在哪，但你知道自己越界了——因为理智值在下降。这种"不确定中的确定惩罚"正是灵异怪谈类作品的核心心理机制。我们把它做成了一款桌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1463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B6F9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56B"/>
                </a:solidFill>
                <a:latin typeface="Microsoft YaHei"/>
              </a:defRPr>
            </a:pPr>
            <a:r>
              <a:t>原则二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03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规则约束所有人，包括鬼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鬼制定了隐藏规则，但这些规则同样约束鬼自己。信息不对称是游戏的核心乐趣，但规则面前人人平等——这是博弈空间的保证。鬼也可能被其他鬼利用规则攻击。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7B6F9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56B"/>
                </a:solidFill>
                <a:latin typeface="Microsoft YaHei"/>
              </a:defRPr>
            </a:pPr>
            <a:r>
              <a:t>原则三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物理实体承载情感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715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堆叠式角色面板让玩家"看到"自己的生存历程；公开规则栏让所有人随时感知规则的压迫；硬币掷出的正反面不只是判定，是命运。每一个物理组件都是为了制造某种情感反馈而设计的。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核心创新：四维规则骨架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Rule System Architecture —— 规则不是附属品，规则本身就是游戏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9748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97480" cy="73152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F9E"/>
                </a:solidFill>
                <a:latin typeface="Microsoft YaHei"/>
              </a:defRPr>
            </a:pPr>
            <a:r>
              <a:t>等级维度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违规惩罚的严重程度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T1重(8张)·T2中(24张)·T3轻(20张)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9748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73152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A4"/>
                </a:solidFill>
                <a:latin typeface="Microsoft YaHei"/>
              </a:defRPr>
            </a:pPr>
            <a:r>
              <a:t>可见性维度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信息不对称的物理载体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隐藏规则 → 公开规则 → 被抹除规则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69748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697480" cy="73152"/>
          </a:xfrm>
          <a:prstGeom prst="rect">
            <a:avLst/>
          </a:prstGeom>
          <a:solidFill>
            <a:srgbClr val="5B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7CB0"/>
                </a:solidFill>
                <a:latin typeface="Microsoft YaHei"/>
              </a:defRPr>
            </a:pPr>
            <a:r>
              <a:t>状态维度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规则的活性与消亡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生效中 ↔ 已抹除（宣言推理的终极目标）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554480"/>
            <a:ext cx="269748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554480"/>
            <a:ext cx="2697480" cy="73152"/>
          </a:xfrm>
          <a:prstGeom prst="rect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828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23E"/>
                </a:solidFill>
                <a:latin typeface="Microsoft YaHei"/>
              </a:defRPr>
            </a:pPr>
            <a:r>
              <a:t>来源维度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1945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规则的生成与绑定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普通规则28张(鬼自选) + 特殊规则24张(12地点×2)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1124712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整款游戏的建筑逻辑</a:t>
            </a:r>
          </a:p>
          <a:p>
            <a:pPr>
              <a:spcAft>
                <a:spcPts val="600"/>
              </a:spcAft>
              <a:defRPr sz="1500" b="0">
                <a:solidFill>
                  <a:srgbClr val="CCCCCC"/>
                </a:solidFill>
                <a:latin typeface="Microsoft YaHei"/>
              </a:defRPr>
            </a:pPr>
            <a:r>
              <a:t>宣言推理 · 双维生存 · 事件卡攻防 · 角色技能 · AI市长叙事</a:t>
            </a:r>
          </a:p>
          <a:p>
            <a:pPr>
              <a:spcAft>
                <a:spcPts val="600"/>
              </a:spcAft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全部生长在"规则系统"这副骨架上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详见设计书附录：四维规则骨架图（SVG）——直观展示52张规则卡在四个维度上的分布与流动关系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核心玩法：宣言推理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Declaration &amp; Reasoning —— 让"不知道规则"成为玩法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228600" cy="228600"/>
          </a:xfrm>
          <a:prstGeom prst="ellipse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F9E"/>
                </a:solidFill>
                <a:latin typeface="Microsoft YaHei"/>
              </a:defRPr>
            </a:pPr>
            <a:r>
              <a:t>① 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违反规则的玩家理智下降，所有人观察到"有人受罚了"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06040"/>
            <a:ext cx="228600" cy="2286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A4"/>
                </a:solidFill>
                <a:latin typeface="Microsoft YaHei"/>
              </a:defRPr>
            </a:pPr>
            <a:r>
              <a:t>② 猜测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80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人类阵营结合AI市长的海龟汤式故事和游戏中的异常现象，推理规则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66160"/>
            <a:ext cx="228600" cy="228600"/>
          </a:xfrm>
          <a:prstGeom prst="ellipse">
            <a:avLst/>
          </a:prstGeom>
          <a:solidFill>
            <a:srgbClr val="D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756B"/>
                </a:solidFill>
                <a:latin typeface="Microsoft YaHei"/>
              </a:defRPr>
            </a:pPr>
            <a:r>
              <a:t>③ 宣言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40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大声宣言："我推理第X条规则——[规则内容]"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26280"/>
            <a:ext cx="228600" cy="228600"/>
          </a:xfrm>
          <a:prstGeom prst="ellipse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434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23E"/>
                </a:solidFill>
                <a:latin typeface="Microsoft YaHei"/>
              </a:defRPr>
            </a:pPr>
            <a:r>
              <a:t>④ 质询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鬼可以发起质询，质疑推理过程或证据链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486400"/>
            <a:ext cx="228600" cy="228600"/>
          </a:xfrm>
          <a:prstGeom prst="ellipse">
            <a:avLst/>
          </a:prstGeom>
          <a:solidFill>
            <a:srgbClr val="5B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394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7CB0"/>
                </a:solidFill>
                <a:latin typeface="Microsoft YaHei"/>
              </a:defRPr>
            </a:pPr>
            <a:r>
              <a:t>⑤ 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760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鬼拿出对应规则卡验证。正确→规则抹除；错误→宣言者扣1理智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645920"/>
            <a:ext cx="3840480" cy="4572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1645920"/>
            <a:ext cx="384048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设计亮点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每人每回合限1次宣言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宣言次数达2/4/6次抽事件卡</a:t>
            </a:r>
          </a:p>
          <a:p>
            <a:pPr>
              <a:spcAft>
                <a:spcPts val="600"/>
              </a:spcAft>
              <a:defRPr sz="1200" b="1">
                <a:solidFill>
                  <a:srgbClr val="D4756B"/>
                </a:solidFill>
                <a:latin typeface="Microsoft YaHei"/>
              </a:defRPr>
            </a:pPr>
            <a:r>
              <a:t>• 宣言成功→规则永久抹除</a:t>
            </a:r>
          </a:p>
          <a:p>
            <a:pPr>
              <a:spcAft>
                <a:spcPts val="600"/>
              </a:spcAft>
              <a:defRPr sz="1200" b="1">
                <a:solidFill>
                  <a:srgbClr val="D4756B"/>
                </a:solidFill>
                <a:latin typeface="Microsoft YaHei"/>
              </a:defRPr>
            </a:pPr>
            <a:r>
              <a:t>• 宣言失败→扣1理智</a:t>
            </a:r>
          </a:p>
          <a:p>
            <a:pPr>
              <a:spcAft>
                <a:spcPts val="600"/>
              </a:spcAft>
              <a:defRPr sz="1200" b="0">
                <a:solidFill>
                  <a:srgbClr val="C8923E"/>
                </a:solidFill>
                <a:latin typeface="Microsoft YaHei"/>
              </a:defRPr>
            </a:pPr>
            <a:r>
              <a:t>• 鬼可发起质询打断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宣言即合法：玩家互相监督</a:t>
            </a:r>
          </a:p>
          <a:p>
            <a:pPr>
              <a:spcAft>
                <a:spcPts val="600"/>
              </a:spcAft>
              <a:defRPr sz="1200" b="0">
                <a:solidFill>
                  <a:srgbClr val="888899"/>
                </a:solidFill>
                <a:latin typeface="Microsoft YaHei"/>
              </a:defRPr>
            </a:pPr>
            <a:r>
              <a:t>  市长不做法官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双维属性：两条独立的死亡路径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Dual-Dimension Survival —— 饿死 vs 疯掉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4572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90A4"/>
                </a:solidFill>
                <a:latin typeface="Microsoft YaHei"/>
              </a:defRPr>
            </a:pPr>
            <a:r>
              <a:t>健康值（体力）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起始：6点（标准）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D4756B"/>
                </a:solidFill>
                <a:latin typeface="Microsoft YaHei"/>
              </a:defRPr>
            </a:pPr>
            <a:r>
              <a:t>消耗途径：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每日黎明自动扣除（递增：1→2→3...）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移动消耗（越远扣越多）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事件卡效果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D4756B"/>
                </a:solidFill>
                <a:latin typeface="Microsoft YaHei"/>
              </a:defRPr>
            </a:pPr>
            <a:r>
              <a:t>恢复途径：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物资卡（食物类）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反击卡效果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交易获取物资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4A90A4"/>
                </a:solidFill>
                <a:latin typeface="Microsoft YaHei"/>
              </a:defRPr>
            </a:pPr>
            <a:r>
              <a:t>死亡条件：健康值降至0 → 饿死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8640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F9E"/>
                </a:solidFill>
                <a:latin typeface="Microsoft YaHei"/>
              </a:defRPr>
            </a:pPr>
            <a:r>
              <a:t>理智值（精神）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起始：6点（标准）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D4756B"/>
                </a:solidFill>
                <a:latin typeface="Microsoft YaHei"/>
              </a:defRPr>
            </a:pPr>
            <a:r>
              <a:t>消耗途径：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违反鬼的隐藏规则→扣理智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T1规则扣3点 / T2扣2点 / T3扣1点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怪谈卡效果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D4756B"/>
                </a:solidFill>
                <a:latin typeface="Microsoft YaHei"/>
              </a:defRPr>
            </a:pPr>
            <a:r>
              <a:t>恢复途径：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反击卡效果（极少）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特殊角色技能</a:t>
            </a:r>
          </a:p>
          <a:p>
            <a:pPr>
              <a:spcAft>
                <a:spcPts val="600"/>
              </a:spcAft>
              <a:defRPr sz="8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7B6F9E"/>
                </a:solidFill>
                <a:latin typeface="Microsoft YaHei"/>
              </a:defRPr>
            </a:pPr>
            <a:r>
              <a:t>死亡条件：理智值降至0 → 化鬼</a:t>
            </a:r>
          </a:p>
          <a:p>
            <a:pPr>
              <a:spcAft>
                <a:spcPts val="600"/>
              </a:spcAft>
              <a:defRPr sz="1300" b="1">
                <a:solidFill>
                  <a:srgbClr val="D4756B"/>
                </a:solidFill>
                <a:latin typeface="Microsoft YaHei"/>
              </a:defRPr>
            </a:pPr>
            <a:r>
              <a:t>化鬼后加入鬼阵营，人类全员抽反击卡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AI市长：桌游主持的范式转移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AI Mayor —— 零门槛开桌 + 海龟汤式恐怖叙事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0352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D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756B"/>
                </a:solidFill>
                <a:latin typeface="Microsoft YaHei"/>
              </a:defRPr>
            </a:pPr>
            <a:r>
              <a:t>传统桌游的痛点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✕ 需要DM/主持人：缺人就开不了桌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✕ DM水平参差：新手DM严重影响体验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✕ 规则复杂：学习成本高，劝退新玩家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✕ 叙事重复：老玩家反复玩缺乏新鲜感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256032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86400" cy="54864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A4"/>
                </a:solidFill>
                <a:latin typeface="Microsoft YaHei"/>
              </a:defRPr>
            </a:pPr>
            <a:r>
              <a:t>AI市长的解决方案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✓ 零门槛：打开手机/电脑即可开桌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✓ 一致性：严格按照预设指令执行，不偏袒</a:t>
            </a:r>
          </a:p>
          <a:p>
            <a:pPr>
              <a:spcAft>
                <a:spcPts val="600"/>
              </a:spcAft>
              <a:defRPr sz="1300" b="1">
                <a:solidFill>
                  <a:srgbClr val="D4756B"/>
                </a:solidFill>
                <a:latin typeface="Microsoft YaHei"/>
              </a:defRPr>
            </a:pPr>
            <a:r>
              <a:t>✓ 海龟汤叙事：每局生成独一无二的恐怖故事</a:t>
            </a:r>
          </a:p>
          <a:p>
            <a:pPr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✓ 自动化：记录宣言、结算数值、生成终局日记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F9E"/>
                </a:solidFill>
                <a:latin typeface="Microsoft YaHei"/>
              </a:defRPr>
            </a:pPr>
            <a:r>
              <a:t>AI市长6步工作流程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212080"/>
            <a:ext cx="1417320" cy="502920"/>
          </a:xfrm>
          <a:prstGeom prst="round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0.确认玩家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860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68880" y="5212080"/>
            <a:ext cx="1417320" cy="502920"/>
          </a:xfrm>
          <a:prstGeom prst="round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1.开局判定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862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69080" y="5212080"/>
            <a:ext cx="1417320" cy="502920"/>
          </a:xfrm>
          <a:prstGeom prst="roundRect">
            <a:avLst/>
          </a:prstGeom>
          <a:solidFill>
            <a:srgbClr val="D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2.生成故事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864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0" y="5212080"/>
            <a:ext cx="1417320" cy="502920"/>
          </a:xfrm>
          <a:prstGeom prst="roundRect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3.每日黎明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866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5212080"/>
            <a:ext cx="1417320" cy="502920"/>
          </a:xfrm>
          <a:prstGeom prst="roundRect">
            <a:avLst/>
          </a:prstGeom>
          <a:solidFill>
            <a:srgbClr val="5B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4.记录回合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868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9680" y="5212080"/>
            <a:ext cx="1417320" cy="502920"/>
          </a:xfrm>
          <a:prstGeom prst="round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5.结算数值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287000" y="5349240"/>
            <a:ext cx="182880" cy="182880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469880" y="5212080"/>
            <a:ext cx="1417320" cy="502920"/>
          </a:xfrm>
          <a:prstGeom prst="round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6.终局日记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海龟汤难度叙事 → "不讲因果链，只讲日常碎片" —— 故事让玩家知道"规则长什么样"，但不告诉"规则在哪里"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卡牌生态体系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Card Ecosystem —— 188张物理卡 × 5大图鉴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14884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48840" cy="73152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F9E"/>
                </a:solidFill>
                <a:latin typeface="Microsoft YaHei"/>
              </a:defRPr>
            </a:pPr>
            <a:r>
              <a:t>规则卡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52张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T1(8)+T2(24)+T3(20)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游戏的骨架，一切机制的起点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554480"/>
            <a:ext cx="214884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554480"/>
            <a:ext cx="2148840" cy="73152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A4"/>
                </a:solidFill>
                <a:latin typeface="Microsoft YaHei"/>
              </a:defRPr>
            </a:pPr>
            <a:r>
              <a:t>反击卡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62张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基础36+觉醒16+极致8+真理2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人类阵营的破局手段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554480"/>
            <a:ext cx="214884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554480"/>
            <a:ext cx="2148840" cy="73152"/>
          </a:xfrm>
          <a:prstGeom prst="rect">
            <a:avLst/>
          </a:prstGeom>
          <a:solidFill>
            <a:srgbClr val="D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756B"/>
                </a:solidFill>
                <a:latin typeface="Microsoft YaHei"/>
              </a:defRPr>
            </a:pPr>
            <a:r>
              <a:t>怪谈卡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36张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流言16+异常10+怪诞6+灾厄4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鬼阵营的攻击武器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554480"/>
            <a:ext cx="214884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554480"/>
            <a:ext cx="2148840" cy="73152"/>
          </a:xfrm>
          <a:prstGeom prst="rect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23E"/>
                </a:solidFill>
                <a:latin typeface="Microsoft YaHei"/>
              </a:defRPr>
            </a:pPr>
            <a:r>
              <a:t>角色卡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12张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12个独特角色+技能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不对称能力+叙事身份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1554480"/>
            <a:ext cx="214884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554480"/>
            <a:ext cx="2148840" cy="73152"/>
          </a:xfrm>
          <a:prstGeom prst="rect">
            <a:avLst/>
          </a:prstGeom>
          <a:solidFill>
            <a:srgbClr val="5B7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7CB0"/>
                </a:solidFill>
                <a:latin typeface="Microsoft YaHei"/>
              </a:defRPr>
            </a:pPr>
            <a:r>
              <a:t>个人目的卡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26张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公开+隐藏双目标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个人胜利条件，增加博弈层次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389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卡牌物理区域设计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90A4"/>
                </a:solidFill>
                <a:latin typeface="Microsoft YaHei"/>
              </a:defRPr>
            </a:pPr>
            <a:r>
              <a:t>反击卡区域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937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未激活区(盖放) → 已激活区(公开) → 持续适用区 → 弃牌区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756B"/>
                </a:solidFill>
                <a:latin typeface="Microsoft YaHei"/>
              </a:defRPr>
            </a:pPr>
            <a:r>
              <a:t>怪谈卡区域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94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未激活池(鬼共享) → 已激活池 → 目标角色下/弃牌堆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923E"/>
                </a:solidFill>
                <a:latin typeface="Microsoft YaHei"/>
              </a:defRPr>
            </a:pPr>
            <a:r>
              <a:t>物资卡区域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852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手牌(隐藏) → 使用 → 弃牌堆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B6F9E"/>
                </a:solidFill>
                <a:latin typeface="Microsoft YaHei"/>
              </a:defRPr>
            </a:pPr>
            <a:r>
              <a:t>公开规则栏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6309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四分区物理板：公开规则 / 被抹除规则 / 已激活怪谈 / 回合指示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角色设计哲学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Character Design —— 12个即插即用的叙事身份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乐天派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开局健康7(高1点)、理智5(低1点)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乐观的生存主义者，体力充沛但神经大条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法医侦探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宣言时额外获取1条线索信息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专业训练带来推理优势，但身体条件普通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社恐大学生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被质询时可选择沉默（免于回答）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内向但敏锐，社交回避反而成为保护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街道主任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每回合可保护1人免受1次怪谈攻击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街道工作经验赋予的庇护能力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整顿末世零零后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无视1条低级规则的约束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Z世代的叛逆在末世成了生存优势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756B"/>
                </a:solidFill>
                <a:latin typeface="Microsoft YaHei"/>
              </a:defRPr>
            </a:pPr>
            <a:r>
              <a:t>……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共12个角色，每局6-12人自由组合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440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每个角色有独特叙事背景 + 主动/被动技能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Competitive Differentiation —— 为什么《黎明之后》不可替代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狼人杀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阿瓦隆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密室逃脱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《黎明之后》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推理类型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身份推理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阵营推理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谜题推理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规则推理 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信息机制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夜晚信息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任务结果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线索收集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海龟汤式叙事 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死亡机制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投票淘汰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26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双维属性自然死亡 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主持人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必需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必需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必需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AI市长/可选 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重玩性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极高（规则组合爆炸）✦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叙事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固定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每局独有 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策略深度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高（多维度博弈）✦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入门门槛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756B"/>
                </a:solidFill>
                <a:latin typeface="Microsoft YaHei"/>
              </a:defRPr>
            </a:pPr>
            <a:r>
              <a:t>中（AI辅助降低）✦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56B"/>
                </a:solidFill>
                <a:latin typeface="Microsoft YaHei"/>
              </a:defRPr>
            </a:pPr>
            <a:r>
              <a:t>✦ 核心差异化标签：规则推理 × AI市长 × 双维生存 × 海龟汤叙事 × 规则组合爆炸重玩性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市场机会与开发路线图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Market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4864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90A4"/>
                </a:solidFill>
                <a:latin typeface="Microsoft YaHei"/>
              </a:defRPr>
            </a:pPr>
            <a:r>
              <a:t>市场机会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中国桌游市场年增长30%+，社交推理品类高速扩张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狼人杀/阿瓦隆/血染钟楼验证了品类需求</a:t>
            </a:r>
          </a:p>
          <a:p>
            <a:pPr>
              <a:spcAft>
                <a:spcPts val="600"/>
              </a:spcAft>
              <a:defRPr sz="1200" b="1">
                <a:solidFill>
                  <a:srgbClr val="D4756B"/>
                </a:solidFill>
                <a:latin typeface="Microsoft YaHei"/>
              </a:defRPr>
            </a:pPr>
            <a:r>
              <a:t>• "规则推理"品类几乎空白——无直接竞品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AI辅助降低门槛，扩大潜在用户群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目标：社交聚会场景 + 桌游吧 + 线上剧本杀平台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86400" cy="54864"/>
          </a:xfrm>
          <a:prstGeom prst="rect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923E"/>
                </a:solidFill>
                <a:latin typeface="Microsoft YaHei"/>
              </a:defRPr>
            </a:pPr>
            <a:r>
              <a:t>目标用户画像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核心玩家：18-35岁社交推理爱好者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扩展用户：派对/团建场景的轻度玩家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潜在用户：线上剧本杀/密室逃脱爱好者</a:t>
            </a:r>
          </a:p>
          <a:p>
            <a:pPr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• 渠道：桌游吧、Kickstarter/摩点众筹、电商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• 定价区间：¥198-298（标准版）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237744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F9E"/>
                </a:solidFill>
                <a:latin typeface="Microsoft YaHei"/>
              </a:defRPr>
            </a:pPr>
            <a:r>
              <a:t>开发路线图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2651760" cy="128016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937760"/>
            <a:ext cx="2651760" cy="54864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6F9E"/>
                </a:solidFill>
                <a:latin typeface="Microsoft YaHei"/>
              </a:defRPr>
            </a:pPr>
            <a:r>
              <a:t>V1.x 核心机制</a:t>
            </a:r>
            <a:br/>
            <a:r>
              <a:t>(已完成)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12角色</a:t>
            </a:r>
            <a:br/>
            <a:r>
              <a:t>62反击卡</a:t>
            </a:r>
            <a:br/>
            <a:r>
              <a:t>36怪谈卡</a:t>
            </a:r>
            <a:br/>
            <a:r>
              <a:t>52规则卡</a:t>
            </a:r>
            <a:br/>
            <a:r>
              <a:t>双维属性</a:t>
            </a:r>
            <a:br/>
            <a:r>
              <a:t>宣言推理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93008" y="5486400"/>
            <a:ext cx="164592" cy="164592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0" y="4937760"/>
            <a:ext cx="2651760" cy="128016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0" y="4937760"/>
            <a:ext cx="2651760" cy="54864"/>
          </a:xfrm>
          <a:prstGeom prst="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90A4"/>
                </a:solidFill>
                <a:latin typeface="Microsoft YaHei"/>
              </a:defRPr>
            </a:pPr>
            <a:r>
              <a:t>V2.0 系统完善</a:t>
            </a:r>
            <a:br/>
            <a:r>
              <a:t>(已完成)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532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AI市长指令</a:t>
            </a:r>
            <a:br/>
            <a:r>
              <a:t>网站第一期</a:t>
            </a:r>
            <a:br/>
            <a:r>
              <a:t>卡牌数据库</a:t>
            </a:r>
            <a:br/>
            <a:r>
              <a:t>9张流程图</a:t>
            </a:r>
            <a:br/>
            <a:r>
              <a:t>设计书+PPT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327648" y="5486400"/>
            <a:ext cx="164592" cy="164592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4937760"/>
            <a:ext cx="2651760" cy="128016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37760"/>
            <a:ext cx="2651760" cy="54864"/>
          </a:xfrm>
          <a:prstGeom prst="rect">
            <a:avLst/>
          </a:prstGeom>
          <a:solidFill>
            <a:srgbClr val="D47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756B"/>
                </a:solidFill>
                <a:latin typeface="Microsoft YaHei"/>
              </a:defRPr>
            </a:pPr>
            <a:r>
              <a:t>V3.0 成品打磨</a:t>
            </a:r>
            <a:br/>
            <a:r>
              <a:t>(计划中)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532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美术设计</a:t>
            </a:r>
            <a:br/>
            <a:r>
              <a:t>网站第二期</a:t>
            </a:r>
            <a:br/>
            <a:r>
              <a:t>AI对话功能</a:t>
            </a:r>
            <a:br/>
            <a:r>
              <a:t>盲测迭代</a:t>
            </a:r>
            <a:br/>
            <a:r>
              <a:t>工业化文件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62288" y="5486400"/>
            <a:ext cx="164592" cy="164592"/>
          </a:xfrm>
          <a:prstGeom prst="rightArrow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26880" y="4937760"/>
            <a:ext cx="2651760" cy="1280160"/>
          </a:xfrm>
          <a:prstGeom prst="roundRect">
            <a:avLst/>
          </a:prstGeom>
          <a:solidFill>
            <a:srgbClr val="252542"/>
          </a:solidFill>
          <a:ln w="635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26880" y="4937760"/>
            <a:ext cx="2651760" cy="54864"/>
          </a:xfrm>
          <a:prstGeom prst="rect">
            <a:avLst/>
          </a:prstGeom>
          <a:solidFill>
            <a:srgbClr val="C8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923E"/>
                </a:solidFill>
                <a:latin typeface="Microsoft YaHei"/>
              </a:defRPr>
            </a:pPr>
            <a:r>
              <a:t>V4.0 商业发布</a:t>
            </a:r>
            <a:br/>
            <a:r>
              <a:t>(未来)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5532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众筹上线</a:t>
            </a:r>
            <a:br/>
            <a:r>
              <a:t>生产供应链</a:t>
            </a:r>
            <a:br/>
            <a:r>
              <a:t>渠道合作</a:t>
            </a:r>
            <a:br/>
            <a:r>
              <a:t>线上版本</a:t>
            </a:r>
            <a:br/>
            <a:r>
              <a:t>社区运营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108960"/>
            <a:ext cx="2743200" cy="36576"/>
          </a:xfrm>
          <a:prstGeom prst="rect">
            <a:avLst/>
          </a:prstGeom>
          <a:solidFill>
            <a:srgbClr val="7B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《黎明之后》</a:t>
            </a:r>
          </a:p>
          <a:p>
            <a:pPr>
              <a:spcAft>
                <a:spcPts val="600"/>
              </a:spcAft>
              <a:defRPr sz="2000" b="0">
                <a:solidFill>
                  <a:srgbClr val="D4756B"/>
                </a:solidFill>
                <a:latin typeface="Microsoft YaHei"/>
              </a:defRPr>
            </a:pPr>
            <a:r>
              <a:t>（规则怪谈-推理反击）社交派对游戏</a:t>
            </a:r>
          </a:p>
          <a:p>
            <a:pPr>
              <a:spcAft>
                <a:spcPts val="600"/>
              </a:spcAft>
              <a:defRPr sz="14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"规则不是附属品，规则本身就是游戏。"</a:t>
            </a:r>
          </a:p>
          <a:p>
            <a:pPr>
              <a:spcAft>
                <a:spcPts val="600"/>
              </a:spcAft>
              <a:defRPr sz="1400" b="0">
                <a:solidFill>
                  <a:srgbClr val="888899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版本：V2.0  |  文档：设计书 + 产品报告 + 完整设计稿</a:t>
            </a:r>
          </a:p>
          <a:p>
            <a:pPr>
              <a:spcAft>
                <a:spcPts val="600"/>
              </a:spcAft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网站：GitHub Pages（搭建中）  |  知识库：腾讯乐享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